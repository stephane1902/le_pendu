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Présenter le binôme et le sujet : un jeu du pendu réalisé en une journée avec Python et Eel. Annoncer le plan : principe, architecture, démo, difficultés.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Expliquer les règles simplement. Victoire : toutes les lettres trouvées. Défaite : 6 erreurs, le mot s'affiche.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Insister sur la séparation : Python décide (mot, erreurs, victoire), le navigateur affiche. Un seul processus lancé avec python main.py.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Dérouler les quatre étapes sur un exemple. L'état de la partie vit côté Python, dans le CSV, jamais dans le navigateur.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L'aperçu animé à l'écran est une simulation. Ensuite, basculer sur la vraie application : lancer python main.py avant la présentation, cliquer sur Launch game, jouer une partie gagnée (par exemple le mot theo), puis recharger la page pour montrer un nouveau mot. Montrer aussi games.csv qui se remplit. Prévoir une capture d'écran de secours si le lancement échoue.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Retour d'expérience : raconter le diagnostic. Le message d'erreur était côté navigateur mais la cause venait du Python qui se fermait tout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Conclure sur ce qui fonctionne et sur les limites actuelles, puis laisser place aux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D111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E6EDF3"/>
                </a:solidFill>
                <a:latin typeface="Consolas" pitchFamily="34" charset="0"/>
                <a:ea typeface="Consolas" pitchFamily="34" charset="-122"/>
                <a:cs typeface="Consola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E6EDF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D1117"/>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4960"/>
          </a:xfrm>
          <a:prstGeom prst="rect">
            <a:avLst/>
          </a:prstGeom>
          <a:noFill/>
          <a:ln/>
        </p:spPr>
        <p:txBody>
          <a:bodyPr wrap="square" lIns="0" tIns="0" rIns="0" bIns="0" rtlCol="0" anchor="t"/>
          <a:lstStyle>
            <a:lvl1pPr algn="l" indent="0" marL="0">
              <a:lnSpc>
                <a:spcPct val="115000"/>
              </a:lnSpc>
              <a:buNone/>
              <a:defRPr lang="en-US" sz="3400" dirty="0">
                <a:solidFill>
                  <a:srgbClr val="E6EDF3"/>
                </a:solidFill>
                <a:latin typeface="Consolas" pitchFamily="34" charset="0"/>
                <a:ea typeface="Consolas" pitchFamily="34" charset="-122"/>
                <a:cs typeface="Consola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812800" y="1592560"/>
            <a:ext cx="10566400" cy="4452640"/>
          </a:xfrm>
          <a:prstGeom prst="rect">
            <a:avLst/>
          </a:prstGeom>
          <a:noFill/>
          <a:ln/>
        </p:spPr>
        <p:txBody>
          <a:bodyPr wrap="square" lIns="0" tIns="0" rIns="0" bIns="0" rtlCol="0" anchor="t"/>
          <a:lstStyle>
            <a:lvl1pPr algn="l" indent="0" marL="0">
              <a:lnSpc>
                <a:spcPct val="140000"/>
              </a:lnSpc>
              <a:buNone/>
              <a:defRPr lang="en-US" sz="1600" dirty="0">
                <a:solidFill>
                  <a:srgbClr val="E6EDF3"/>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 y="457200"/>
            <a:ext cx="152400" cy="152400"/>
          </a:xfrm>
          <a:prstGeom prst="rect">
            <a:avLst/>
          </a:prstGeom>
        </p:spPr>
      </p:pic>
      <p:pic>
        <p:nvPicPr>
          <p:cNvPr id="3" name="Image 1" descr="ellipse">    </p:cNvPr>
          <p:cNvPicPr>
            <a:picLocks noChangeAspect="1"/>
          </p:cNvPicPr>
          <p:nvPr/>
        </p:nvPicPr>
        <p:blipFill>
          <a:blip r:embed="rId2"/>
          <a:srcRect l="0" r="0" t="0" b="0"/>
          <a:stretch/>
        </p:blipFill>
        <p:spPr>
          <a:xfrm>
            <a:off x="1066800" y="457200"/>
            <a:ext cx="152400" cy="152400"/>
          </a:xfrm>
          <a:prstGeom prst="rect">
            <a:avLst/>
          </a:prstGeom>
        </p:spPr>
      </p:pic>
      <p:pic>
        <p:nvPicPr>
          <p:cNvPr id="4" name="Image 2" descr="ellipse">    </p:cNvPr>
          <p:cNvPicPr>
            <a:picLocks noChangeAspect="1"/>
          </p:cNvPicPr>
          <p:nvPr/>
        </p:nvPicPr>
        <p:blipFill>
          <a:blip r:embed="rId3"/>
          <a:srcRect l="0" r="0" t="0" b="0"/>
          <a:stretch/>
        </p:blipFill>
        <p:spPr>
          <a:xfrm>
            <a:off x="1320800" y="457200"/>
            <a:ext cx="152400" cy="152400"/>
          </a:xfrm>
          <a:prstGeom prst="rect">
            <a:avLst/>
          </a:prstGeom>
        </p:spPr>
      </p:pic>
      <p:sp>
        <p:nvSpPr>
          <p:cNvPr id="5" name="Text 0"/>
          <p:cNvSpPr/>
          <p:nvPr/>
        </p:nvSpPr>
        <p:spPr>
          <a:xfrm>
            <a:off x="812800" y="2099965"/>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3FB950"/>
                </a:solidFill>
                <a:latin typeface="Consolas" pitchFamily="49" charset="0"/>
                <a:ea typeface="Consolas" pitchFamily="49" charset="-122"/>
                <a:cs typeface="Consolas" pitchFamily="49" charset="-120"/>
              </a:rPr>
              <a:t>$ python main.py</a:t>
            </a:r>
            <a:endParaRPr lang="en-US" sz="2000" dirty="0"/>
          </a:p>
        </p:txBody>
      </p:sp>
      <p:sp>
        <p:nvSpPr>
          <p:cNvPr id="6" name="Text 1"/>
          <p:cNvSpPr/>
          <p:nvPr>
            <p:ph type="title"/>
          </p:nvPr>
        </p:nvSpPr>
        <p:spPr>
          <a:xfrm>
            <a:off x="812800" y="2684165"/>
            <a:ext cx="10883392" cy="958850"/>
          </a:xfrm>
          <a:prstGeom prst="rect">
            <a:avLst/>
          </a:prstGeom>
          <a:noFill/>
          <a:ln/>
        </p:spPr>
        <p:txBody>
          <a:bodyPr wrap="square" lIns="0" tIns="0" rIns="0" bIns="0" rtlCol="0" anchor="t">
            <a:normAutofit/>
          </a:bodyPr>
          <a:lstStyle/>
          <a:p>
            <a:pPr algn="l" indent="0" marL="0">
              <a:lnSpc>
                <a:spcPts val="7350"/>
              </a:lnSpc>
              <a:buNone/>
            </a:pPr>
            <a:r>
              <a:rPr lang="en-US" sz="7000" b="1" i="0" dirty="0">
                <a:solidFill>
                  <a:srgbClr val="E6EDF3"/>
                </a:solidFill>
                <a:latin typeface="Consolas" pitchFamily="49" charset="0"/>
                <a:ea typeface="Consolas" pitchFamily="49" charset="-122"/>
                <a:cs typeface="Consolas" pitchFamily="49" charset="-120"/>
              </a:rPr>
              <a:t>Jeu du pendu</a:t>
            </a:r>
            <a:r>
              <a:rPr lang="en-US" sz="7000" b="1" i="0" dirty="0">
                <a:solidFill>
                  <a:srgbClr val="3FB950"/>
                </a:solidFill>
                <a:latin typeface="Consolas" pitchFamily="49" charset="0"/>
                <a:ea typeface="Consolas" pitchFamily="49" charset="-122"/>
                <a:cs typeface="Consolas" pitchFamily="49" charset="-120"/>
              </a:rPr>
              <a:t>_</a:t>
            </a:r>
            <a:endParaRPr lang="en-US" sz="7000" dirty="0"/>
          </a:p>
        </p:txBody>
      </p:sp>
      <p:sp>
        <p:nvSpPr>
          <p:cNvPr id="7" name="Text 2"/>
          <p:cNvSpPr/>
          <p:nvPr/>
        </p:nvSpPr>
        <p:spPr>
          <a:xfrm>
            <a:off x="812800" y="3846215"/>
            <a:ext cx="10883392" cy="38859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8B949E"/>
                </a:solidFill>
                <a:latin typeface="Arial" pitchFamily="34" charset="0"/>
                <a:ea typeface="Arial" pitchFamily="34" charset="-122"/>
                <a:cs typeface="Arial" pitchFamily="34" charset="-120"/>
              </a:rPr>
              <a:t>Une logique Python, une interface web, reliées par </a:t>
            </a:r>
            <a:r>
              <a:rPr lang="en-US" sz="2200" dirty="0">
                <a:solidFill>
                  <a:srgbClr val="58A6FF"/>
                </a:solidFill>
                <a:latin typeface="Arial" pitchFamily="34" charset="0"/>
                <a:ea typeface="Arial" pitchFamily="34" charset="-122"/>
                <a:cs typeface="Arial" pitchFamily="34" charset="-120"/>
              </a:rPr>
              <a:t>Eel</a:t>
            </a:r>
            <a:endParaRPr lang="en-US" sz="2200" dirty="0"/>
          </a:p>
        </p:txBody>
      </p:sp>
      <p:sp>
        <p:nvSpPr>
          <p:cNvPr id="8" name="Text 3"/>
          <p:cNvSpPr/>
          <p:nvPr/>
        </p:nvSpPr>
        <p:spPr>
          <a:xfrm>
            <a:off x="812800" y="4438005"/>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0883E"/>
                </a:solidFill>
                <a:latin typeface="Consolas" pitchFamily="49" charset="0"/>
                <a:ea typeface="Consolas" pitchFamily="49" charset="-122"/>
                <a:cs typeface="Consolas" pitchFamily="49" charset="-120"/>
              </a:rPr>
              <a:t>Stephane &amp; Théo</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12800" y="355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49E"/>
                </a:solidFill>
                <a:latin typeface="Consolas" pitchFamily="49" charset="0"/>
                <a:ea typeface="Consolas" pitchFamily="49" charset="-122"/>
                <a:cs typeface="Consolas" pitchFamily="49" charset="-120"/>
              </a:rPr>
              <a:t>// 01 / principe</a:t>
            </a:r>
            <a:endParaRPr lang="en-US" sz="1200" dirty="0"/>
          </a:p>
        </p:txBody>
      </p:sp>
      <p:sp>
        <p:nvSpPr>
          <p:cNvPr id="3" name="Text 1"/>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3FB950"/>
                </a:solidFill>
                <a:latin typeface="Consolas" pitchFamily="49" charset="0"/>
                <a:ea typeface="Consolas" pitchFamily="49" charset="-122"/>
                <a:cs typeface="Consolas" pitchFamily="49" charset="-120"/>
              </a:rPr>
              <a:t>&gt;</a:t>
            </a:r>
            <a:r>
              <a:rPr lang="en-US" sz="3400" b="1" i="0" dirty="0">
                <a:solidFill>
                  <a:srgbClr val="E6EDF3"/>
                </a:solidFill>
                <a:latin typeface="Consolas" pitchFamily="49" charset="0"/>
                <a:ea typeface="Consolas" pitchFamily="49" charset="-122"/>
                <a:cs typeface="Consolas" pitchFamily="49" charset="-120"/>
              </a:rPr>
              <a:t> Principe et règles</a:t>
            </a:r>
            <a:endParaRPr lang="en-US" sz="3400" dirty="0"/>
          </a:p>
        </p:txBody>
      </p:sp>
      <p:sp>
        <p:nvSpPr>
          <p:cNvPr id="4" name="Shape 2"/>
          <p:cNvSpPr/>
          <p:nvPr/>
        </p:nvSpPr>
        <p:spPr>
          <a:xfrm>
            <a:off x="819100" y="2637730"/>
            <a:ext cx="3378200" cy="2425700"/>
          </a:xfrm>
          <a:prstGeom prst="roundRect">
            <a:avLst>
              <a:gd name="adj" fmla="val 2880"/>
            </a:avLst>
          </a:prstGeom>
          <a:solidFill>
            <a:srgbClr val="161B22"/>
          </a:solidFill>
          <a:ln w="12700">
            <a:solidFill>
              <a:srgbClr val="30363D"/>
            </a:solidFill>
            <a:prstDash val="solid"/>
          </a:ln>
        </p:spPr>
      </p:sp>
      <p:sp>
        <p:nvSpPr>
          <p:cNvPr id="5" name="Text 3"/>
          <p:cNvSpPr/>
          <p:nvPr/>
        </p:nvSpPr>
        <p:spPr>
          <a:xfrm>
            <a:off x="1079450" y="2898080"/>
            <a:ext cx="294322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58A6FF"/>
                </a:solidFill>
                <a:latin typeface="Consolas" pitchFamily="49" charset="0"/>
                <a:ea typeface="Consolas" pitchFamily="49" charset="-122"/>
                <a:cs typeface="Consolas" pitchFamily="49" charset="-120"/>
              </a:rPr>
              <a:t>01</a:t>
            </a:r>
            <a:endParaRPr lang="en-US" sz="3200" dirty="0"/>
          </a:p>
        </p:txBody>
      </p:sp>
      <p:sp>
        <p:nvSpPr>
          <p:cNvPr id="6" name="Text 4"/>
          <p:cNvSpPr/>
          <p:nvPr/>
        </p:nvSpPr>
        <p:spPr>
          <a:xfrm>
            <a:off x="1079450" y="3594001"/>
            <a:ext cx="294322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3"/>
                </a:solidFill>
                <a:latin typeface="Arial" pitchFamily="34" charset="0"/>
                <a:ea typeface="Arial" pitchFamily="34" charset="-122"/>
                <a:cs typeface="Arial" pitchFamily="34" charset="-120"/>
              </a:rPr>
              <a:t>Un mot caché</a:t>
            </a:r>
            <a:endParaRPr lang="en-US" sz="2000" dirty="0"/>
          </a:p>
        </p:txBody>
      </p:sp>
      <p:sp>
        <p:nvSpPr>
          <p:cNvPr id="7" name="Text 5"/>
          <p:cNvSpPr/>
          <p:nvPr/>
        </p:nvSpPr>
        <p:spPr>
          <a:xfrm>
            <a:off x="1079450" y="4025801"/>
            <a:ext cx="294322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Tiré au hasard dans </a:t>
            </a:r>
            <a:r>
              <a:rPr lang="en-US" sz="1500" dirty="0">
                <a:solidFill>
                  <a:srgbClr val="79C0FF"/>
                </a:solidFill>
                <a:latin typeface="Arial" pitchFamily="34" charset="0"/>
                <a:ea typeface="Arial" pitchFamily="34" charset="-122"/>
                <a:cs typeface="Arial" pitchFamily="34" charset="-120"/>
              </a:rPr>
              <a:t>dict.txt</a:t>
            </a:r>
            <a:r>
              <a:rPr lang="en-US" sz="1500" dirty="0">
                <a:solidFill>
                  <a:srgbClr val="C9D1D9"/>
                </a:solidFill>
                <a:latin typeface="Arial" pitchFamily="34" charset="0"/>
                <a:ea typeface="Arial" pitchFamily="34" charset="-122"/>
                <a:cs typeface="Arial" pitchFamily="34" charset="-120"/>
              </a:rPr>
              <a:t> et affiché sous forme de cases vides</a:t>
            </a:r>
            <a:endParaRPr lang="en-US" sz="1500" dirty="0"/>
          </a:p>
        </p:txBody>
      </p:sp>
      <p:sp>
        <p:nvSpPr>
          <p:cNvPr id="8" name="Shape 6"/>
          <p:cNvSpPr/>
          <p:nvPr/>
        </p:nvSpPr>
        <p:spPr>
          <a:xfrm>
            <a:off x="4406850" y="2637730"/>
            <a:ext cx="3378200" cy="2425700"/>
          </a:xfrm>
          <a:prstGeom prst="roundRect">
            <a:avLst>
              <a:gd name="adj" fmla="val 2880"/>
            </a:avLst>
          </a:prstGeom>
          <a:solidFill>
            <a:srgbClr val="161B22"/>
          </a:solidFill>
          <a:ln w="12700">
            <a:solidFill>
              <a:srgbClr val="30363D"/>
            </a:solidFill>
            <a:prstDash val="solid"/>
          </a:ln>
        </p:spPr>
      </p:sp>
      <p:sp>
        <p:nvSpPr>
          <p:cNvPr id="9" name="Text 7"/>
          <p:cNvSpPr/>
          <p:nvPr/>
        </p:nvSpPr>
        <p:spPr>
          <a:xfrm>
            <a:off x="4667200" y="2898080"/>
            <a:ext cx="294322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58A6FF"/>
                </a:solidFill>
                <a:latin typeface="Consolas" pitchFamily="49" charset="0"/>
                <a:ea typeface="Consolas" pitchFamily="49" charset="-122"/>
                <a:cs typeface="Consolas" pitchFamily="49" charset="-120"/>
              </a:rPr>
              <a:t>02</a:t>
            </a:r>
            <a:endParaRPr lang="en-US" sz="3200" dirty="0"/>
          </a:p>
        </p:txBody>
      </p:sp>
      <p:sp>
        <p:nvSpPr>
          <p:cNvPr id="10" name="Text 8"/>
          <p:cNvSpPr/>
          <p:nvPr/>
        </p:nvSpPr>
        <p:spPr>
          <a:xfrm>
            <a:off x="4667200" y="3594001"/>
            <a:ext cx="294322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3"/>
                </a:solidFill>
                <a:latin typeface="Arial" pitchFamily="34" charset="0"/>
                <a:ea typeface="Arial" pitchFamily="34" charset="-122"/>
                <a:cs typeface="Arial" pitchFamily="34" charset="-120"/>
              </a:rPr>
              <a:t>Une lettre à la fois</a:t>
            </a:r>
            <a:endParaRPr lang="en-US" sz="2000" dirty="0"/>
          </a:p>
        </p:txBody>
      </p:sp>
      <p:sp>
        <p:nvSpPr>
          <p:cNvPr id="11" name="Text 9"/>
          <p:cNvSpPr/>
          <p:nvPr/>
        </p:nvSpPr>
        <p:spPr>
          <a:xfrm>
            <a:off x="4667200" y="4025801"/>
            <a:ext cx="294322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Clavier AZERTY à l'écran, chaque touche ne peut être jouée qu'une fois</a:t>
            </a:r>
            <a:endParaRPr lang="en-US" sz="1500" dirty="0"/>
          </a:p>
        </p:txBody>
      </p:sp>
      <p:sp>
        <p:nvSpPr>
          <p:cNvPr id="12" name="Shape 10"/>
          <p:cNvSpPr/>
          <p:nvPr/>
        </p:nvSpPr>
        <p:spPr>
          <a:xfrm>
            <a:off x="7994650" y="2637730"/>
            <a:ext cx="3378200" cy="2425700"/>
          </a:xfrm>
          <a:prstGeom prst="roundRect">
            <a:avLst>
              <a:gd name="adj" fmla="val 2880"/>
            </a:avLst>
          </a:prstGeom>
          <a:solidFill>
            <a:srgbClr val="161B22"/>
          </a:solidFill>
          <a:ln w="12700">
            <a:solidFill>
              <a:srgbClr val="30363D"/>
            </a:solidFill>
            <a:prstDash val="solid"/>
          </a:ln>
        </p:spPr>
      </p:sp>
      <p:sp>
        <p:nvSpPr>
          <p:cNvPr id="13" name="Text 11"/>
          <p:cNvSpPr/>
          <p:nvPr/>
        </p:nvSpPr>
        <p:spPr>
          <a:xfrm>
            <a:off x="8255000" y="2898080"/>
            <a:ext cx="2943225"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0883E"/>
                </a:solidFill>
                <a:latin typeface="Consolas" pitchFamily="49" charset="0"/>
                <a:ea typeface="Consolas" pitchFamily="49" charset="-122"/>
                <a:cs typeface="Consolas" pitchFamily="49" charset="-120"/>
              </a:rPr>
              <a:t>06</a:t>
            </a:r>
            <a:endParaRPr lang="en-US" sz="3200" dirty="0"/>
          </a:p>
        </p:txBody>
      </p:sp>
      <p:sp>
        <p:nvSpPr>
          <p:cNvPr id="14" name="Text 12"/>
          <p:cNvSpPr/>
          <p:nvPr/>
        </p:nvSpPr>
        <p:spPr>
          <a:xfrm>
            <a:off x="8255000" y="3594001"/>
            <a:ext cx="294322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6EDF3"/>
                </a:solidFill>
                <a:latin typeface="Arial" pitchFamily="34" charset="0"/>
                <a:ea typeface="Arial" pitchFamily="34" charset="-122"/>
                <a:cs typeface="Arial" pitchFamily="34" charset="-120"/>
              </a:rPr>
              <a:t>Erreurs maximum</a:t>
            </a:r>
            <a:endParaRPr lang="en-US" sz="2000" dirty="0"/>
          </a:p>
        </p:txBody>
      </p:sp>
      <p:sp>
        <p:nvSpPr>
          <p:cNvPr id="15" name="Text 13"/>
          <p:cNvSpPr/>
          <p:nvPr/>
        </p:nvSpPr>
        <p:spPr>
          <a:xfrm>
            <a:off x="8255000" y="4025801"/>
            <a:ext cx="294322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Chaque erreur dessine une partie du pendu. À la sixième, le mot est révélé</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812800" y="355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49E"/>
                </a:solidFill>
                <a:latin typeface="Consolas" pitchFamily="49" charset="0"/>
                <a:ea typeface="Consolas" pitchFamily="49" charset="-122"/>
                <a:cs typeface="Consolas" pitchFamily="49" charset="-120"/>
              </a:rPr>
              <a:t>// 02 / architecture</a:t>
            </a:r>
            <a:endParaRPr lang="en-US" sz="1200" dirty="0"/>
          </a:p>
        </p:txBody>
      </p:sp>
      <p:sp>
        <p:nvSpPr>
          <p:cNvPr id="3" name="Text 1"/>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3FB950"/>
                </a:solidFill>
                <a:latin typeface="Consolas" pitchFamily="49" charset="0"/>
                <a:ea typeface="Consolas" pitchFamily="49" charset="-122"/>
                <a:cs typeface="Consolas" pitchFamily="49" charset="-120"/>
              </a:rPr>
              <a:t>&gt;</a:t>
            </a:r>
            <a:r>
              <a:rPr lang="en-US" sz="3400" b="1" i="0" dirty="0">
                <a:solidFill>
                  <a:srgbClr val="E6EDF3"/>
                </a:solidFill>
                <a:latin typeface="Consolas" pitchFamily="49" charset="0"/>
                <a:ea typeface="Consolas" pitchFamily="49" charset="-122"/>
                <a:cs typeface="Consolas" pitchFamily="49" charset="-120"/>
              </a:rPr>
              <a:t> Architecture : Python + Eel</a:t>
            </a:r>
            <a:endParaRPr lang="en-US" sz="3400" dirty="0"/>
          </a:p>
        </p:txBody>
      </p:sp>
      <p:sp>
        <p:nvSpPr>
          <p:cNvPr id="4" name="Text 2"/>
          <p:cNvSpPr/>
          <p:nvPr/>
        </p:nvSpPr>
        <p:spPr>
          <a:xfrm>
            <a:off x="812750" y="4589810"/>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1D9"/>
                </a:solidFill>
                <a:latin typeface="Arial" pitchFamily="34" charset="0"/>
                <a:ea typeface="Arial" pitchFamily="34" charset="-122"/>
                <a:cs typeface="Arial" pitchFamily="34" charset="-120"/>
              </a:rPr>
              <a:t>Eel relie les deux par un WebSocket : le JavaScript appelle directement les fonctions Python marquées </a:t>
            </a:r>
            <a:r>
              <a:rPr lang="en-US" sz="1600" dirty="0">
                <a:solidFill>
                  <a:srgbClr val="F0883E"/>
                </a:solidFill>
                <a:latin typeface="Arial" pitchFamily="34" charset="0"/>
                <a:ea typeface="Arial" pitchFamily="34" charset="-122"/>
                <a:cs typeface="Arial" pitchFamily="34" charset="-120"/>
              </a:rPr>
              <a:t>@eel.expose</a:t>
            </a:r>
            <a:r>
              <a:rPr lang="en-US" sz="1600" dirty="0">
                <a:solidFill>
                  <a:srgbClr val="C9D1D9"/>
                </a:solidFill>
                <a:latin typeface="Arial" pitchFamily="34" charset="0"/>
                <a:ea typeface="Arial" pitchFamily="34" charset="-122"/>
                <a:cs typeface="Arial" pitchFamily="34" charset="-120"/>
              </a:rPr>
              <a:t>.</a:t>
            </a:r>
            <a:endParaRPr lang="en-US" sz="1600" dirty="0"/>
          </a:p>
        </p:txBody>
      </p:sp>
      <p:sp>
        <p:nvSpPr>
          <p:cNvPr id="5" name="Shape 3"/>
          <p:cNvSpPr/>
          <p:nvPr/>
        </p:nvSpPr>
        <p:spPr>
          <a:xfrm>
            <a:off x="819150" y="2632075"/>
            <a:ext cx="3733800" cy="1593850"/>
          </a:xfrm>
          <a:prstGeom prst="roundRect">
            <a:avLst>
              <a:gd name="adj" fmla="val 4382"/>
            </a:avLst>
          </a:prstGeom>
          <a:solidFill>
            <a:srgbClr val="0D1117"/>
          </a:solidFill>
          <a:ln w="12700">
            <a:solidFill>
              <a:srgbClr val="30363D"/>
            </a:solidFill>
            <a:prstDash val="solid"/>
          </a:ln>
        </p:spPr>
      </p:sp>
      <p:sp>
        <p:nvSpPr>
          <p:cNvPr id="6" name="Text 4"/>
          <p:cNvSpPr/>
          <p:nvPr/>
        </p:nvSpPr>
        <p:spPr>
          <a:xfrm>
            <a:off x="1079500" y="2892425"/>
            <a:ext cx="33094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8A6FF"/>
                </a:solidFill>
                <a:latin typeface="Consolas" pitchFamily="49" charset="0"/>
                <a:ea typeface="Consolas" pitchFamily="49" charset="-122"/>
                <a:cs typeface="Consolas" pitchFamily="49" charset="-120"/>
              </a:rPr>
              <a:t>Navigateur</a:t>
            </a:r>
            <a:endParaRPr lang="en-US" sz="2000" dirty="0"/>
          </a:p>
        </p:txBody>
      </p:sp>
      <p:sp>
        <p:nvSpPr>
          <p:cNvPr id="7" name="Text 5"/>
          <p:cNvSpPr/>
          <p:nvPr/>
        </p:nvSpPr>
        <p:spPr>
          <a:xfrm>
            <a:off x="1079500" y="3324225"/>
            <a:ext cx="330949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79C0FF"/>
                </a:solidFill>
                <a:latin typeface="Arial" pitchFamily="34" charset="0"/>
                <a:ea typeface="Arial" pitchFamily="34" charset="-122"/>
                <a:cs typeface="Arial" pitchFamily="34" charset="-120"/>
              </a:rPr>
              <a:t>gui/</a:t>
            </a:r>
            <a:r>
              <a:rPr lang="en-US" sz="1500" dirty="0">
                <a:solidFill>
                  <a:srgbClr val="C9D1D9"/>
                </a:solidFill>
                <a:latin typeface="Arial" pitchFamily="34" charset="0"/>
                <a:ea typeface="Arial" pitchFamily="34" charset="-122"/>
                <a:cs typeface="Arial" pitchFamily="34" charset="-120"/>
              </a:rPr>
              <a:t> : HTML, CSS, JavaScript</a:t>
            </a:r>
            <a:endParaRPr lang="en-US" sz="1500" dirty="0"/>
          </a:p>
        </p:txBody>
      </p:sp>
      <p:sp>
        <p:nvSpPr>
          <p:cNvPr id="8" name="Text 6"/>
          <p:cNvSpPr/>
          <p:nvPr/>
        </p:nvSpPr>
        <p:spPr>
          <a:xfrm>
            <a:off x="1079500" y="3708400"/>
            <a:ext cx="330949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Affichage et clics du joueur</a:t>
            </a:r>
            <a:endParaRPr lang="en-US" sz="1500" dirty="0"/>
          </a:p>
        </p:txBody>
      </p:sp>
      <p:sp>
        <p:nvSpPr>
          <p:cNvPr id="9" name="Text 7"/>
          <p:cNvSpPr/>
          <p:nvPr/>
        </p:nvSpPr>
        <p:spPr>
          <a:xfrm>
            <a:off x="5105400" y="2602210"/>
            <a:ext cx="238506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FB950"/>
                </a:solidFill>
                <a:latin typeface="Consolas" pitchFamily="49" charset="0"/>
                <a:ea typeface="Consolas" pitchFamily="49" charset="-122"/>
                <a:cs typeface="Consolas" pitchFamily="49" charset="-120"/>
              </a:rPr>
              <a:t>eel.play_user_move()</a:t>
            </a:r>
            <a:endParaRPr lang="en-US" sz="1300" dirty="0"/>
          </a:p>
        </p:txBody>
      </p:sp>
      <p:pic>
        <p:nvPicPr>
          <p:cNvPr id="10" name="Image 0" descr="arrow-right">    </p:cNvPr>
          <p:cNvPicPr>
            <a:picLocks noChangeAspect="1"/>
          </p:cNvPicPr>
          <p:nvPr/>
        </p:nvPicPr>
        <p:blipFill>
          <a:blip r:embed="rId1"/>
          <a:srcRect l="0" r="0" t="0" b="0"/>
          <a:stretch/>
        </p:blipFill>
        <p:spPr>
          <a:xfrm>
            <a:off x="5461000" y="2932410"/>
            <a:ext cx="1270000" cy="444500"/>
          </a:xfrm>
          <a:prstGeom prst="rect">
            <a:avLst/>
          </a:prstGeom>
        </p:spPr>
      </p:pic>
      <p:pic>
        <p:nvPicPr>
          <p:cNvPr id="11" name="Image 1" descr="arrow-left">    </p:cNvPr>
          <p:cNvPicPr>
            <a:picLocks noChangeAspect="1"/>
          </p:cNvPicPr>
          <p:nvPr/>
        </p:nvPicPr>
        <p:blipFill>
          <a:blip r:embed="rId2"/>
          <a:srcRect l="0" r="0" t="0" b="0"/>
          <a:stretch/>
        </p:blipFill>
        <p:spPr>
          <a:xfrm>
            <a:off x="5461000" y="3478560"/>
            <a:ext cx="1270000" cy="444500"/>
          </a:xfrm>
          <a:prstGeom prst="rect">
            <a:avLst/>
          </a:prstGeom>
        </p:spPr>
      </p:pic>
      <p:sp>
        <p:nvSpPr>
          <p:cNvPr id="12" name="Text 8"/>
          <p:cNvSpPr/>
          <p:nvPr/>
        </p:nvSpPr>
        <p:spPr>
          <a:xfrm>
            <a:off x="5302250" y="4024660"/>
            <a:ext cx="190500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0883E"/>
                </a:solidFill>
                <a:latin typeface="Consolas" pitchFamily="49" charset="0"/>
                <a:ea typeface="Consolas" pitchFamily="49" charset="-122"/>
                <a:cs typeface="Consolas" pitchFamily="49" charset="-120"/>
              </a:rPr>
              <a:t>résultat du coup</a:t>
            </a:r>
            <a:endParaRPr lang="en-US" sz="1300" dirty="0"/>
          </a:p>
        </p:txBody>
      </p:sp>
      <p:sp>
        <p:nvSpPr>
          <p:cNvPr id="13" name="Shape 9"/>
          <p:cNvSpPr/>
          <p:nvPr/>
        </p:nvSpPr>
        <p:spPr>
          <a:xfrm>
            <a:off x="7639050" y="2633960"/>
            <a:ext cx="3733800" cy="1593850"/>
          </a:xfrm>
          <a:prstGeom prst="roundRect">
            <a:avLst>
              <a:gd name="adj" fmla="val 4382"/>
            </a:avLst>
          </a:prstGeom>
          <a:solidFill>
            <a:srgbClr val="0D1117"/>
          </a:solidFill>
          <a:ln w="12700">
            <a:solidFill>
              <a:srgbClr val="30363D"/>
            </a:solidFill>
            <a:prstDash val="solid"/>
          </a:ln>
        </p:spPr>
      </p:sp>
      <p:sp>
        <p:nvSpPr>
          <p:cNvPr id="14" name="Text 10"/>
          <p:cNvSpPr/>
          <p:nvPr/>
        </p:nvSpPr>
        <p:spPr>
          <a:xfrm>
            <a:off x="7899400" y="2894310"/>
            <a:ext cx="330949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FB950"/>
                </a:solidFill>
                <a:latin typeface="Consolas" pitchFamily="49" charset="0"/>
                <a:ea typeface="Consolas" pitchFamily="49" charset="-122"/>
                <a:cs typeface="Consolas" pitchFamily="49" charset="-120"/>
              </a:rPr>
              <a:t>Python</a:t>
            </a:r>
            <a:endParaRPr lang="en-US" sz="2000" dirty="0"/>
          </a:p>
        </p:txBody>
      </p:sp>
      <p:sp>
        <p:nvSpPr>
          <p:cNvPr id="15" name="Text 11"/>
          <p:cNvSpPr/>
          <p:nvPr/>
        </p:nvSpPr>
        <p:spPr>
          <a:xfrm>
            <a:off x="7899400" y="3326110"/>
            <a:ext cx="330949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79C0FF"/>
                </a:solidFill>
                <a:latin typeface="Arial" pitchFamily="34" charset="0"/>
                <a:ea typeface="Arial" pitchFamily="34" charset="-122"/>
                <a:cs typeface="Arial" pitchFamily="34" charset="-120"/>
              </a:rPr>
              <a:t>src/game.py</a:t>
            </a:r>
            <a:r>
              <a:rPr lang="en-US" sz="1500" dirty="0">
                <a:solidFill>
                  <a:srgbClr val="C9D1D9"/>
                </a:solidFill>
                <a:latin typeface="Arial" pitchFamily="34" charset="0"/>
                <a:ea typeface="Arial" pitchFamily="34" charset="-122"/>
                <a:cs typeface="Arial" pitchFamily="34" charset="-120"/>
              </a:rPr>
              <a:t> : logique du jeu</a:t>
            </a:r>
            <a:endParaRPr lang="en-US" sz="1500" dirty="0"/>
          </a:p>
        </p:txBody>
      </p:sp>
      <p:sp>
        <p:nvSpPr>
          <p:cNvPr id="16" name="Text 12"/>
          <p:cNvSpPr/>
          <p:nvPr/>
        </p:nvSpPr>
        <p:spPr>
          <a:xfrm>
            <a:off x="7899400" y="3710285"/>
            <a:ext cx="3309493"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79C0FF"/>
                </a:solidFill>
                <a:latin typeface="Arial" pitchFamily="34" charset="0"/>
                <a:ea typeface="Arial" pitchFamily="34" charset="-122"/>
                <a:cs typeface="Arial" pitchFamily="34" charset="-120"/>
              </a:rPr>
              <a:t>dict.txt</a:t>
            </a:r>
            <a:r>
              <a:rPr lang="en-US" sz="1500" dirty="0">
                <a:solidFill>
                  <a:srgbClr val="C9D1D9"/>
                </a:solidFill>
                <a:latin typeface="Arial" pitchFamily="34" charset="0"/>
                <a:ea typeface="Arial" pitchFamily="34" charset="-122"/>
                <a:cs typeface="Arial" pitchFamily="34" charset="-120"/>
              </a:rPr>
              <a:t> et </a:t>
            </a:r>
            <a:r>
              <a:rPr lang="en-US" sz="1500" dirty="0">
                <a:solidFill>
                  <a:srgbClr val="79C0FF"/>
                </a:solidFill>
                <a:latin typeface="Arial" pitchFamily="34" charset="0"/>
                <a:ea typeface="Arial" pitchFamily="34" charset="-122"/>
                <a:cs typeface="Arial" pitchFamily="34" charset="-120"/>
              </a:rPr>
              <a:t>games.csv</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12800" y="355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49E"/>
                </a:solidFill>
                <a:latin typeface="Consolas" pitchFamily="49" charset="0"/>
                <a:ea typeface="Consolas" pitchFamily="49" charset="-122"/>
                <a:cs typeface="Consolas" pitchFamily="49" charset="-120"/>
              </a:rPr>
              <a:t>// 03 / flux</a:t>
            </a:r>
            <a:endParaRPr lang="en-US" sz="1200" dirty="0"/>
          </a:p>
        </p:txBody>
      </p:sp>
      <p:sp>
        <p:nvSpPr>
          <p:cNvPr id="3" name="Text 1"/>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3FB950"/>
                </a:solidFill>
                <a:latin typeface="Consolas" pitchFamily="49" charset="0"/>
                <a:ea typeface="Consolas" pitchFamily="49" charset="-122"/>
                <a:cs typeface="Consolas" pitchFamily="49" charset="-120"/>
              </a:rPr>
              <a:t>&gt;</a:t>
            </a:r>
            <a:r>
              <a:rPr lang="en-US" sz="3400" b="1" i="0" dirty="0">
                <a:solidFill>
                  <a:srgbClr val="E6EDF3"/>
                </a:solidFill>
                <a:latin typeface="Consolas" pitchFamily="49" charset="0"/>
                <a:ea typeface="Consolas" pitchFamily="49" charset="-122"/>
                <a:cs typeface="Consolas" pitchFamily="49" charset="-120"/>
              </a:rPr>
              <a:t> Le trajet d'une manche</a:t>
            </a:r>
            <a:endParaRPr lang="en-US" sz="3400" dirty="0"/>
          </a:p>
        </p:txBody>
      </p:sp>
      <p:sp>
        <p:nvSpPr>
          <p:cNvPr id="4" name="Text 2"/>
          <p:cNvSpPr/>
          <p:nvPr/>
        </p:nvSpPr>
        <p:spPr>
          <a:xfrm>
            <a:off x="880914" y="4725988"/>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1D9"/>
                </a:solidFill>
                <a:latin typeface="Arial" pitchFamily="34" charset="0"/>
                <a:ea typeface="Arial" pitchFamily="34" charset="-122"/>
                <a:cs typeface="Arial" pitchFamily="34" charset="-120"/>
              </a:rPr>
              <a:t>L'interface se met à jour : cases vertes, pendu, touche désactivée, message final.</a:t>
            </a:r>
            <a:endParaRPr lang="en-US" sz="1600" dirty="0"/>
          </a:p>
        </p:txBody>
      </p:sp>
      <p:sp>
        <p:nvSpPr>
          <p:cNvPr id="5" name="Shape 3"/>
          <p:cNvSpPr/>
          <p:nvPr/>
        </p:nvSpPr>
        <p:spPr>
          <a:xfrm>
            <a:off x="887264" y="2471738"/>
            <a:ext cx="2514600" cy="1917700"/>
          </a:xfrm>
          <a:prstGeom prst="roundRect">
            <a:avLst>
              <a:gd name="adj" fmla="val 3642"/>
            </a:avLst>
          </a:prstGeom>
          <a:solidFill>
            <a:srgbClr val="161B22"/>
          </a:solidFill>
          <a:ln w="12700">
            <a:solidFill>
              <a:srgbClr val="30363D"/>
            </a:solidFill>
            <a:prstDash val="solid"/>
          </a:ln>
        </p:spPr>
      </p:sp>
      <p:sp>
        <p:nvSpPr>
          <p:cNvPr id="6" name="Text 4"/>
          <p:cNvSpPr/>
          <p:nvPr/>
        </p:nvSpPr>
        <p:spPr>
          <a:xfrm>
            <a:off x="1147614" y="2732088"/>
            <a:ext cx="205371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58A6FF"/>
                </a:solidFill>
                <a:latin typeface="Consolas" pitchFamily="49" charset="0"/>
                <a:ea typeface="Consolas" pitchFamily="49" charset="-122"/>
                <a:cs typeface="Consolas" pitchFamily="49" charset="-120"/>
              </a:rPr>
              <a:t>01</a:t>
            </a:r>
            <a:endParaRPr lang="en-US" sz="2800" dirty="0"/>
          </a:p>
        </p:txBody>
      </p:sp>
      <p:sp>
        <p:nvSpPr>
          <p:cNvPr id="7" name="Text 5"/>
          <p:cNvSpPr/>
          <p:nvPr/>
        </p:nvSpPr>
        <p:spPr>
          <a:xfrm>
            <a:off x="1147614" y="3356918"/>
            <a:ext cx="205371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Clic sur une touche du clavier</a:t>
            </a:r>
            <a:endParaRPr lang="en-US" sz="1500" dirty="0"/>
          </a:p>
        </p:txBody>
      </p:sp>
      <p:sp>
        <p:nvSpPr>
          <p:cNvPr id="8" name="Shape 6"/>
          <p:cNvSpPr/>
          <p:nvPr/>
        </p:nvSpPr>
        <p:spPr>
          <a:xfrm>
            <a:off x="3566964" y="2471738"/>
            <a:ext cx="2514600" cy="1917700"/>
          </a:xfrm>
          <a:prstGeom prst="roundRect">
            <a:avLst>
              <a:gd name="adj" fmla="val 3642"/>
            </a:avLst>
          </a:prstGeom>
          <a:solidFill>
            <a:srgbClr val="161B22"/>
          </a:solidFill>
          <a:ln w="12700">
            <a:solidFill>
              <a:srgbClr val="30363D"/>
            </a:solidFill>
            <a:prstDash val="solid"/>
          </a:ln>
        </p:spPr>
      </p:sp>
      <p:sp>
        <p:nvSpPr>
          <p:cNvPr id="9" name="Text 7"/>
          <p:cNvSpPr/>
          <p:nvPr/>
        </p:nvSpPr>
        <p:spPr>
          <a:xfrm>
            <a:off x="3827314" y="2732088"/>
            <a:ext cx="205371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58A6FF"/>
                </a:solidFill>
                <a:latin typeface="Consolas" pitchFamily="49" charset="0"/>
                <a:ea typeface="Consolas" pitchFamily="49" charset="-122"/>
                <a:cs typeface="Consolas" pitchFamily="49" charset="-120"/>
              </a:rPr>
              <a:t>02</a:t>
            </a:r>
            <a:endParaRPr lang="en-US" sz="2800" dirty="0"/>
          </a:p>
        </p:txBody>
      </p:sp>
      <p:sp>
        <p:nvSpPr>
          <p:cNvPr id="10" name="Text 8"/>
          <p:cNvSpPr/>
          <p:nvPr/>
        </p:nvSpPr>
        <p:spPr>
          <a:xfrm>
            <a:off x="3827314" y="3356918"/>
            <a:ext cx="2053717"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Appel de </a:t>
            </a:r>
            <a:r>
              <a:rPr lang="en-US" sz="1500" dirty="0">
                <a:solidFill>
                  <a:srgbClr val="79C0FF"/>
                </a:solidFill>
                <a:latin typeface="Arial" pitchFamily="34" charset="0"/>
                <a:ea typeface="Arial" pitchFamily="34" charset="-122"/>
                <a:cs typeface="Arial" pitchFamily="34" charset="-120"/>
              </a:rPr>
              <a:t>play_user_move(lettre)</a:t>
            </a:r>
            <a:r>
              <a:rPr lang="en-US" sz="1500" dirty="0">
                <a:solidFill>
                  <a:srgbClr val="C9D1D9"/>
                </a:solidFill>
                <a:latin typeface="Arial" pitchFamily="34" charset="0"/>
                <a:ea typeface="Arial" pitchFamily="34" charset="-122"/>
                <a:cs typeface="Arial" pitchFamily="34" charset="-120"/>
              </a:rPr>
              <a:t> en Python</a:t>
            </a:r>
            <a:endParaRPr lang="en-US" sz="1500" dirty="0"/>
          </a:p>
        </p:txBody>
      </p:sp>
      <p:sp>
        <p:nvSpPr>
          <p:cNvPr id="11" name="Shape 9"/>
          <p:cNvSpPr/>
          <p:nvPr/>
        </p:nvSpPr>
        <p:spPr>
          <a:xfrm>
            <a:off x="6246664" y="2470150"/>
            <a:ext cx="2514600" cy="1917700"/>
          </a:xfrm>
          <a:prstGeom prst="roundRect">
            <a:avLst>
              <a:gd name="adj" fmla="val 3642"/>
            </a:avLst>
          </a:prstGeom>
          <a:solidFill>
            <a:srgbClr val="161B22"/>
          </a:solidFill>
          <a:ln w="12700">
            <a:solidFill>
              <a:srgbClr val="30363D"/>
            </a:solidFill>
            <a:prstDash val="solid"/>
          </a:ln>
        </p:spPr>
      </p:sp>
      <p:sp>
        <p:nvSpPr>
          <p:cNvPr id="12" name="Text 10"/>
          <p:cNvSpPr/>
          <p:nvPr/>
        </p:nvSpPr>
        <p:spPr>
          <a:xfrm>
            <a:off x="6507014" y="2730500"/>
            <a:ext cx="205371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58A6FF"/>
                </a:solidFill>
                <a:latin typeface="Consolas" pitchFamily="49" charset="0"/>
                <a:ea typeface="Consolas" pitchFamily="49" charset="-122"/>
                <a:cs typeface="Consolas" pitchFamily="49" charset="-120"/>
              </a:rPr>
              <a:t>03</a:t>
            </a:r>
            <a:endParaRPr lang="en-US" sz="2800" dirty="0"/>
          </a:p>
        </p:txBody>
      </p:sp>
      <p:sp>
        <p:nvSpPr>
          <p:cNvPr id="13" name="Text 11"/>
          <p:cNvSpPr/>
          <p:nvPr/>
        </p:nvSpPr>
        <p:spPr>
          <a:xfrm>
            <a:off x="6507014" y="3355330"/>
            <a:ext cx="2053717"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Mise à jour de la partie dans </a:t>
            </a:r>
            <a:r>
              <a:rPr lang="en-US" sz="1500" dirty="0">
                <a:solidFill>
                  <a:srgbClr val="79C0FF"/>
                </a:solidFill>
                <a:latin typeface="Arial" pitchFamily="34" charset="0"/>
                <a:ea typeface="Arial" pitchFamily="34" charset="-122"/>
                <a:cs typeface="Arial" pitchFamily="34" charset="-120"/>
              </a:rPr>
              <a:t>games.csv</a:t>
            </a:r>
            <a:endParaRPr lang="en-US" sz="1500" dirty="0"/>
          </a:p>
        </p:txBody>
      </p:sp>
      <p:sp>
        <p:nvSpPr>
          <p:cNvPr id="14" name="Shape 12"/>
          <p:cNvSpPr/>
          <p:nvPr/>
        </p:nvSpPr>
        <p:spPr>
          <a:xfrm>
            <a:off x="8926364" y="2471738"/>
            <a:ext cx="2514600" cy="1917700"/>
          </a:xfrm>
          <a:prstGeom prst="roundRect">
            <a:avLst>
              <a:gd name="adj" fmla="val 3642"/>
            </a:avLst>
          </a:prstGeom>
          <a:solidFill>
            <a:srgbClr val="161B22"/>
          </a:solidFill>
          <a:ln w="12700">
            <a:solidFill>
              <a:srgbClr val="30363D"/>
            </a:solidFill>
            <a:prstDash val="solid"/>
          </a:ln>
        </p:spPr>
      </p:sp>
      <p:sp>
        <p:nvSpPr>
          <p:cNvPr id="15" name="Text 13"/>
          <p:cNvSpPr/>
          <p:nvPr/>
        </p:nvSpPr>
        <p:spPr>
          <a:xfrm>
            <a:off x="9186714" y="2732088"/>
            <a:ext cx="2053717"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3FB950"/>
                </a:solidFill>
                <a:latin typeface="Consolas" pitchFamily="49" charset="0"/>
                <a:ea typeface="Consolas" pitchFamily="49" charset="-122"/>
                <a:cs typeface="Consolas" pitchFamily="49" charset="-120"/>
              </a:rPr>
              <a:t>04</a:t>
            </a:r>
            <a:endParaRPr lang="en-US" sz="2800" dirty="0"/>
          </a:p>
        </p:txBody>
      </p:sp>
      <p:sp>
        <p:nvSpPr>
          <p:cNvPr id="16" name="Text 14"/>
          <p:cNvSpPr/>
          <p:nvPr/>
        </p:nvSpPr>
        <p:spPr>
          <a:xfrm>
            <a:off x="9186714" y="3356918"/>
            <a:ext cx="2053717"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Réponse JSON : positions, erreurs, fin de partie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Text 0"/>
          <p:cNvSpPr/>
          <p:nvPr/>
        </p:nvSpPr>
        <p:spPr>
          <a:xfrm>
            <a:off x="812800" y="355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49E"/>
                </a:solidFill>
                <a:latin typeface="Consolas" pitchFamily="49" charset="0"/>
                <a:ea typeface="Consolas" pitchFamily="49" charset="-122"/>
                <a:cs typeface="Consolas" pitchFamily="49" charset="-120"/>
              </a:rPr>
              <a:t>// 04 / démo</a:t>
            </a:r>
            <a:endParaRPr lang="en-US" sz="1200" dirty="0"/>
          </a:p>
        </p:txBody>
      </p:sp>
      <p:sp>
        <p:nvSpPr>
          <p:cNvPr id="3" name="Text 1"/>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3FB950"/>
                </a:solidFill>
                <a:latin typeface="Consolas" pitchFamily="49" charset="0"/>
                <a:ea typeface="Consolas" pitchFamily="49" charset="-122"/>
                <a:cs typeface="Consolas" pitchFamily="49" charset="-120"/>
              </a:rPr>
              <a:t>&gt;</a:t>
            </a:r>
            <a:r>
              <a:rPr lang="en-US" sz="3400" b="1" i="0" dirty="0">
                <a:solidFill>
                  <a:srgbClr val="E6EDF3"/>
                </a:solidFill>
                <a:latin typeface="Consolas" pitchFamily="49" charset="0"/>
                <a:ea typeface="Consolas" pitchFamily="49" charset="-122"/>
                <a:cs typeface="Consolas" pitchFamily="49" charset="-120"/>
              </a:rPr>
              <a:t> Démo</a:t>
            </a:r>
            <a:endParaRPr lang="en-US" sz="3400" dirty="0"/>
          </a:p>
        </p:txBody>
      </p:sp>
      <p:pic>
        <p:nvPicPr>
          <p:cNvPr id="4" name="Image 0" descr="web embed">    </p:cNvPr>
          <p:cNvPicPr>
            <a:picLocks noChangeAspect="1"/>
          </p:cNvPicPr>
          <p:nvPr/>
        </p:nvPicPr>
        <p:blipFill>
          <a:blip r:embed="rId1"/>
          <a:srcRect l="0" r="0" t="0" b="0"/>
          <a:stretch/>
        </p:blipFill>
        <p:spPr>
          <a:xfrm>
            <a:off x="812800" y="1714500"/>
            <a:ext cx="7112000" cy="4064000"/>
          </a:xfrm>
          <a:prstGeom prst="rect">
            <a:avLst/>
          </a:prstGeom>
        </p:spPr>
      </p:pic>
      <p:sp>
        <p:nvSpPr>
          <p:cNvPr id="5" name="Text 2"/>
          <p:cNvSpPr/>
          <p:nvPr/>
        </p:nvSpPr>
        <p:spPr>
          <a:xfrm>
            <a:off x="8229600" y="1714500"/>
            <a:ext cx="3244088"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3FB950"/>
                </a:solidFill>
                <a:latin typeface="Consolas" pitchFamily="49" charset="0"/>
                <a:ea typeface="Consolas" pitchFamily="49" charset="-122"/>
                <a:cs typeface="Consolas" pitchFamily="49" charset="-120"/>
              </a:rPr>
              <a:t>$ python main.py</a:t>
            </a:r>
            <a:endParaRPr lang="en-US" sz="1500" dirty="0"/>
          </a:p>
        </p:txBody>
      </p:sp>
      <p:sp>
        <p:nvSpPr>
          <p:cNvPr id="6" name="Text 3"/>
          <p:cNvSpPr/>
          <p:nvPr/>
        </p:nvSpPr>
        <p:spPr>
          <a:xfrm>
            <a:off x="8229600" y="2149475"/>
            <a:ext cx="324408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Une partie complète se joue en direct dans l'application</a:t>
            </a:r>
            <a:endParaRPr lang="en-US" sz="1500" dirty="0"/>
          </a:p>
        </p:txBody>
      </p:sp>
      <p:sp>
        <p:nvSpPr>
          <p:cNvPr id="7" name="Text 4"/>
          <p:cNvSpPr/>
          <p:nvPr/>
        </p:nvSpPr>
        <p:spPr>
          <a:xfrm>
            <a:off x="8229600" y="2841625"/>
            <a:ext cx="324408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C9D1D9"/>
                </a:solidFill>
                <a:latin typeface="Arial" pitchFamily="34" charset="0"/>
                <a:ea typeface="Arial" pitchFamily="34" charset="-122"/>
                <a:cs typeface="Arial" pitchFamily="34" charset="-120"/>
              </a:rPr>
              <a:t>Lettres justes en vert, fausses en rouge</a:t>
            </a:r>
            <a:endParaRPr lang="en-US" sz="1500" dirty="0"/>
          </a:p>
        </p:txBody>
      </p:sp>
      <p:sp>
        <p:nvSpPr>
          <p:cNvPr id="8" name="Text 5"/>
          <p:cNvSpPr/>
          <p:nvPr/>
        </p:nvSpPr>
        <p:spPr>
          <a:xfrm>
            <a:off x="812800" y="6238280"/>
            <a:ext cx="49204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49E"/>
                </a:solidFill>
                <a:latin typeface="Arial" pitchFamily="34" charset="0"/>
                <a:ea typeface="Arial" pitchFamily="34" charset="-122"/>
                <a:cs typeface="Arial" pitchFamily="34" charset="-120"/>
              </a:rPr>
              <a:t>Aperçu animé du jeu, puis démo en direct dans le navigateur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883E"/>
        </a:solidFill>
      </p:bgPr>
    </p:bg>
    <p:spTree>
      <p:nvGrpSpPr>
        <p:cNvPr id="1" name=""/>
        <p:cNvGrpSpPr/>
        <p:nvPr/>
      </p:nvGrpSpPr>
      <p:grpSpPr>
        <a:xfrm>
          <a:off x="0" y="0"/>
          <a:ext cx="0" cy="0"/>
          <a:chOff x="0" y="0"/>
          <a:chExt cx="0" cy="0"/>
        </a:xfrm>
      </p:grpSpPr>
      <p:sp>
        <p:nvSpPr>
          <p:cNvPr id="2" name="Text 0"/>
          <p:cNvSpPr/>
          <p:nvPr/>
        </p:nvSpPr>
        <p:spPr>
          <a:xfrm>
            <a:off x="812800" y="355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D1117"/>
                </a:solidFill>
                <a:latin typeface="Consolas" pitchFamily="49" charset="0"/>
                <a:ea typeface="Consolas" pitchFamily="49" charset="-122"/>
                <a:cs typeface="Consolas" pitchFamily="49" charset="-120"/>
              </a:rPr>
              <a:t>// 05 / retour d'expérience</a:t>
            </a:r>
            <a:endParaRPr lang="en-US" sz="1200" dirty="0"/>
          </a:p>
        </p:txBody>
      </p:sp>
      <p:sp>
        <p:nvSpPr>
          <p:cNvPr id="3" name="Text 1"/>
          <p:cNvSpPr/>
          <p:nvPr>
            <p:ph type="title"/>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D1117"/>
                </a:solidFill>
                <a:latin typeface="Consolas" pitchFamily="49" charset="0"/>
                <a:ea typeface="Consolas" pitchFamily="49" charset="-122"/>
                <a:cs typeface="Consolas" pitchFamily="49" charset="-120"/>
              </a:rPr>
              <a:t>Notre principal bug : le WebSocket</a:t>
            </a:r>
            <a:endParaRPr lang="en-US" sz="3200" dirty="0"/>
          </a:p>
        </p:txBody>
      </p:sp>
      <p:sp>
        <p:nvSpPr>
          <p:cNvPr id="4" name="Text 2"/>
          <p:cNvSpPr/>
          <p:nvPr/>
        </p:nvSpPr>
        <p:spPr>
          <a:xfrm>
            <a:off x="812800" y="2294434"/>
            <a:ext cx="10566400" cy="618480"/>
          </a:xfrm>
          <a:prstGeom prst="roundRect">
            <a:avLst>
              <a:gd name="adj" fmla="val 12321"/>
            </a:avLst>
          </a:prstGeom>
          <a:solidFill>
            <a:srgbClr val="0D1117"/>
          </a:solidFill>
          <a:ln/>
        </p:spPr>
        <p:txBody>
          <a:bodyPr wrap="square" lIns="180882" tIns="130082" rIns="0" bIns="104682" rtlCol="0" anchor="t">
            <a:normAutofit/>
          </a:bodyPr>
          <a:lstStyle/>
          <a:p>
            <a:pPr algn="l" indent="0" marL="0">
              <a:lnSpc>
                <a:spcPts val="2470"/>
              </a:lnSpc>
              <a:buNone/>
            </a:pPr>
            <a:r>
              <a:rPr lang="en-US" sz="1900" b="1" dirty="0">
                <a:solidFill>
                  <a:srgbClr val="F85149"/>
                </a:solidFill>
                <a:latin typeface="Consolas" pitchFamily="49" charset="0"/>
                <a:ea typeface="Consolas" pitchFamily="49" charset="-122"/>
                <a:cs typeface="Consolas" pitchFamily="49" charset="-120"/>
              </a:rPr>
              <a:t>WebSocket is already in CLOSING or CLOSED state</a:t>
            </a:r>
            <a:endParaRPr lang="en-US" sz="1900" dirty="0"/>
          </a:p>
        </p:txBody>
      </p:sp>
      <p:sp>
        <p:nvSpPr>
          <p:cNvPr id="5" name="Text 3"/>
          <p:cNvSpPr/>
          <p:nvPr/>
        </p:nvSpPr>
        <p:spPr>
          <a:xfrm>
            <a:off x="882346" y="3196134"/>
            <a:ext cx="10806176" cy="964505"/>
          </a:xfrm>
          <a:prstGeom prst="rect">
            <a:avLst/>
          </a:prstGeom>
          <a:noFill/>
          <a:ln/>
        </p:spPr>
        <p:txBody>
          <a:bodyPr wrap="square" lIns="0" tIns="0" rIns="0" bIns="0" rtlCol="0" anchor="t">
            <a:normAutofit/>
          </a:bodyPr>
          <a:lstStyle/>
          <a:p>
            <a:pPr algn="l" marL="184404" indent="-184404">
              <a:lnSpc>
                <a:spcPts val="2465"/>
              </a:lnSpc>
              <a:buSzPct val="100000"/>
              <a:buChar char="•"/>
            </a:pPr>
            <a:r>
              <a:rPr lang="en-US" sz="1700" dirty="0">
                <a:solidFill>
                  <a:srgbClr val="0D1117"/>
                </a:solidFill>
                <a:latin typeface="Arial" pitchFamily="34" charset="0"/>
                <a:ea typeface="Arial" pitchFamily="34" charset="-122"/>
                <a:cs typeface="Arial" pitchFamily="34" charset="-120"/>
              </a:rPr>
              <a:t>Un close_callback appelait sys.exit(0) sur une liste de sockets périmée</a:t>
            </a:r>
            <a:endParaRPr lang="en-US" sz="1700" dirty="0"/>
          </a:p>
          <a:p>
            <a:pPr algn="l" marL="184404" indent="-184404">
              <a:lnSpc>
                <a:spcPts val="2465"/>
              </a:lnSpc>
              <a:buSzPct val="100000"/>
              <a:buChar char="•"/>
            </a:pPr>
            <a:r>
              <a:rPr lang="en-US" sz="1700" dirty="0">
                <a:solidFill>
                  <a:srgbClr val="0D1117"/>
                </a:solidFill>
                <a:latin typeface="Arial" pitchFamily="34" charset="0"/>
                <a:ea typeface="Arial" pitchFamily="34" charset="-122"/>
                <a:cs typeface="Arial" pitchFamily="34" charset="-120"/>
              </a:rPr>
              <a:t>Une navigation lancée juste après un appel eel coupait la connexion</a:t>
            </a:r>
            <a:endParaRPr lang="en-US" sz="1700" dirty="0"/>
          </a:p>
          <a:p>
            <a:pPr algn="l" marL="184404" indent="-184404">
              <a:lnSpc>
                <a:spcPts val="2465"/>
              </a:lnSpc>
              <a:buSzPct val="100000"/>
              <a:buChar char="•"/>
            </a:pPr>
            <a:r>
              <a:rPr lang="en-US" sz="1700" dirty="0">
                <a:solidFill>
                  <a:srgbClr val="0D1117"/>
                </a:solidFill>
                <a:latin typeface="Arial" pitchFamily="34" charset="0"/>
                <a:ea typeface="Arial" pitchFamily="34" charset="-122"/>
                <a:cs typeface="Arial" pitchFamily="34" charset="-120"/>
              </a:rPr>
              <a:t>Des appels d'initialisation partaient avant l'ouverture du socket</a:t>
            </a:r>
            <a:endParaRPr lang="en-US" sz="1700" dirty="0"/>
          </a:p>
        </p:txBody>
      </p:sp>
      <p:sp>
        <p:nvSpPr>
          <p:cNvPr id="6" name="Text 4"/>
          <p:cNvSpPr/>
          <p:nvPr/>
        </p:nvSpPr>
        <p:spPr>
          <a:xfrm>
            <a:off x="812750" y="4415334"/>
            <a:ext cx="10883392"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D1117"/>
                </a:solidFill>
                <a:latin typeface="Arial" pitchFamily="34" charset="0"/>
                <a:ea typeface="Arial" pitchFamily="34" charset="-122"/>
                <a:cs typeface="Arial" pitchFamily="34" charset="-120"/>
              </a:rPr>
              <a:t>Solution : shutdown_delay d'Eel, await sur chaque appel, attente de l'ouverture du socket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B22"/>
        </a:solidFill>
      </p:bgPr>
    </p:bg>
    <p:spTree>
      <p:nvGrpSpPr>
        <p:cNvPr id="1" name=""/>
        <p:cNvGrpSpPr/>
        <p:nvPr/>
      </p:nvGrpSpPr>
      <p:grpSpPr>
        <a:xfrm>
          <a:off x="0" y="0"/>
          <a:ext cx="0" cy="0"/>
          <a:chOff x="0" y="0"/>
          <a:chExt cx="0" cy="0"/>
        </a:xfrm>
      </p:grpSpPr>
      <p:sp>
        <p:nvSpPr>
          <p:cNvPr id="2" name="Text 0"/>
          <p:cNvSpPr/>
          <p:nvPr/>
        </p:nvSpPr>
        <p:spPr>
          <a:xfrm>
            <a:off x="812800" y="3556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B949E"/>
                </a:solidFill>
                <a:latin typeface="Consolas" pitchFamily="49" charset="0"/>
                <a:ea typeface="Consolas" pitchFamily="49" charset="-122"/>
                <a:cs typeface="Consolas" pitchFamily="49" charset="-120"/>
              </a:rPr>
              <a:t>// 06 / bilan</a:t>
            </a:r>
            <a:endParaRPr lang="en-US" sz="1200" dirty="0"/>
          </a:p>
        </p:txBody>
      </p:sp>
      <p:sp>
        <p:nvSpPr>
          <p:cNvPr id="3" name="Text 1"/>
          <p:cNvSpPr/>
          <p:nvPr>
            <p:ph type="title"/>
          </p:nvPr>
        </p:nvSpPr>
        <p:spPr>
          <a:xfrm>
            <a:off x="812800" y="81280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3FB950"/>
                </a:solidFill>
                <a:latin typeface="Consolas" pitchFamily="49" charset="0"/>
                <a:ea typeface="Consolas" pitchFamily="49" charset="-122"/>
                <a:cs typeface="Consolas" pitchFamily="49" charset="-120"/>
              </a:rPr>
              <a:t>&gt;</a:t>
            </a:r>
            <a:r>
              <a:rPr lang="en-US" sz="3400" b="1" i="0" dirty="0">
                <a:solidFill>
                  <a:srgbClr val="E6EDF3"/>
                </a:solidFill>
                <a:latin typeface="Consolas" pitchFamily="49" charset="0"/>
                <a:ea typeface="Consolas" pitchFamily="49" charset="-122"/>
                <a:cs typeface="Consolas" pitchFamily="49" charset="-120"/>
              </a:rPr>
              <a:t> Bilan et pistes</a:t>
            </a:r>
            <a:endParaRPr lang="en-US" sz="3400" dirty="0"/>
          </a:p>
        </p:txBody>
      </p:sp>
      <p:sp>
        <p:nvSpPr>
          <p:cNvPr id="4" name="Text 2"/>
          <p:cNvSpPr/>
          <p:nvPr/>
        </p:nvSpPr>
        <p:spPr>
          <a:xfrm>
            <a:off x="812750" y="4671715"/>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883E"/>
                </a:solidFill>
                <a:latin typeface="Consolas" pitchFamily="49" charset="0"/>
                <a:ea typeface="Consolas" pitchFamily="49" charset="-122"/>
                <a:cs typeface="Consolas" pitchFamily="49" charset="-120"/>
              </a:rPr>
              <a:t>Merci, des questions ?</a:t>
            </a:r>
            <a:endParaRPr lang="en-US" sz="2200" dirty="0"/>
          </a:p>
        </p:txBody>
      </p:sp>
      <p:sp>
        <p:nvSpPr>
          <p:cNvPr id="5" name="Shape 3"/>
          <p:cNvSpPr/>
          <p:nvPr/>
        </p:nvSpPr>
        <p:spPr>
          <a:xfrm>
            <a:off x="819150" y="2524125"/>
            <a:ext cx="5168900" cy="1809750"/>
          </a:xfrm>
          <a:prstGeom prst="roundRect">
            <a:avLst>
              <a:gd name="adj" fmla="val 3860"/>
            </a:avLst>
          </a:prstGeom>
          <a:solidFill>
            <a:srgbClr val="0D1117"/>
          </a:solidFill>
          <a:ln w="12700">
            <a:solidFill>
              <a:srgbClr val="30363D"/>
            </a:solidFill>
            <a:prstDash val="solid"/>
          </a:ln>
        </p:spPr>
      </p:sp>
      <p:sp>
        <p:nvSpPr>
          <p:cNvPr id="6" name="Text 4"/>
          <p:cNvSpPr/>
          <p:nvPr/>
        </p:nvSpPr>
        <p:spPr>
          <a:xfrm>
            <a:off x="1079500" y="2784475"/>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FB950"/>
                </a:solidFill>
                <a:latin typeface="Consolas" pitchFamily="49" charset="0"/>
                <a:ea typeface="Consolas" pitchFamily="49" charset="-122"/>
                <a:cs typeface="Consolas" pitchFamily="49" charset="-120"/>
              </a:rPr>
              <a:t>Ce que nous avons fait</a:t>
            </a:r>
            <a:endParaRPr lang="en-US" sz="2000" dirty="0"/>
          </a:p>
        </p:txBody>
      </p:sp>
      <p:sp>
        <p:nvSpPr>
          <p:cNvPr id="7" name="Text 5"/>
          <p:cNvSpPr/>
          <p:nvPr/>
        </p:nvSpPr>
        <p:spPr>
          <a:xfrm>
            <a:off x="1163320" y="3216275"/>
            <a:ext cx="4696206"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C9D1D9"/>
                </a:solidFill>
                <a:latin typeface="Arial" pitchFamily="34" charset="0"/>
                <a:ea typeface="Arial" pitchFamily="34" charset="-122"/>
                <a:cs typeface="Arial" pitchFamily="34" charset="-120"/>
              </a:rPr>
              <a:t>Jeu complet jouable dans le navigateur</a:t>
            </a:r>
            <a:endParaRPr lang="en-US" sz="1500" dirty="0"/>
          </a:p>
          <a:p>
            <a:pPr algn="l" marL="170180" indent="-170180">
              <a:lnSpc>
                <a:spcPts val="2250"/>
              </a:lnSpc>
              <a:buSzPct val="100000"/>
              <a:buChar char="•"/>
            </a:pPr>
            <a:r>
              <a:rPr lang="en-US" sz="1500" dirty="0">
                <a:solidFill>
                  <a:srgbClr val="C9D1D9"/>
                </a:solidFill>
                <a:latin typeface="Arial" pitchFamily="34" charset="0"/>
                <a:ea typeface="Arial" pitchFamily="34" charset="-122"/>
                <a:cs typeface="Arial" pitchFamily="34" charset="-120"/>
              </a:rPr>
              <a:t>Historique des parties dans games.csv</a:t>
            </a:r>
            <a:endParaRPr lang="en-US" sz="1500" dirty="0"/>
          </a:p>
          <a:p>
            <a:pPr algn="l" marL="170180" indent="-170180">
              <a:lnSpc>
                <a:spcPts val="2250"/>
              </a:lnSpc>
              <a:buSzPct val="100000"/>
              <a:buChar char="•"/>
            </a:pPr>
            <a:r>
              <a:rPr lang="en-US" sz="1500" dirty="0">
                <a:solidFill>
                  <a:srgbClr val="C9D1D9"/>
                </a:solidFill>
                <a:latin typeface="Arial" pitchFamily="34" charset="0"/>
                <a:ea typeface="Arial" pitchFamily="34" charset="-122"/>
                <a:cs typeface="Arial" pitchFamily="34" charset="-120"/>
              </a:rPr>
              <a:t>Logique Python séparée de l'interface</a:t>
            </a:r>
            <a:endParaRPr lang="en-US" sz="1500" dirty="0"/>
          </a:p>
        </p:txBody>
      </p:sp>
      <p:sp>
        <p:nvSpPr>
          <p:cNvPr id="8" name="Shape 6"/>
          <p:cNvSpPr/>
          <p:nvPr/>
        </p:nvSpPr>
        <p:spPr>
          <a:xfrm>
            <a:off x="6203950" y="2525415"/>
            <a:ext cx="5168900" cy="1809750"/>
          </a:xfrm>
          <a:prstGeom prst="roundRect">
            <a:avLst>
              <a:gd name="adj" fmla="val 3860"/>
            </a:avLst>
          </a:prstGeom>
          <a:solidFill>
            <a:srgbClr val="0D1117"/>
          </a:solidFill>
          <a:ln w="12700">
            <a:solidFill>
              <a:srgbClr val="30363D"/>
            </a:solidFill>
            <a:prstDash val="solid"/>
          </a:ln>
        </p:spPr>
      </p:sp>
      <p:sp>
        <p:nvSpPr>
          <p:cNvPr id="9" name="Text 7"/>
          <p:cNvSpPr/>
          <p:nvPr/>
        </p:nvSpPr>
        <p:spPr>
          <a:xfrm>
            <a:off x="6464300" y="2785765"/>
            <a:ext cx="478764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58A6FF"/>
                </a:solidFill>
                <a:latin typeface="Consolas" pitchFamily="49" charset="0"/>
                <a:ea typeface="Consolas" pitchFamily="49" charset="-122"/>
                <a:cs typeface="Consolas" pitchFamily="49" charset="-120"/>
              </a:rPr>
              <a:t>Pistes d'amélioration</a:t>
            </a:r>
            <a:endParaRPr lang="en-US" sz="2000" dirty="0"/>
          </a:p>
        </p:txBody>
      </p:sp>
      <p:sp>
        <p:nvSpPr>
          <p:cNvPr id="10" name="Text 8"/>
          <p:cNvSpPr/>
          <p:nvPr/>
        </p:nvSpPr>
        <p:spPr>
          <a:xfrm>
            <a:off x="6548120" y="3217565"/>
            <a:ext cx="4696206" cy="882650"/>
          </a:xfrm>
          <a:prstGeom prst="rect">
            <a:avLst/>
          </a:prstGeom>
          <a:noFill/>
          <a:ln/>
        </p:spPr>
        <p:txBody>
          <a:bodyPr wrap="square" lIns="0" tIns="0" rIns="0" bIns="0" rtlCol="0" anchor="t">
            <a:normAutofit/>
          </a:bodyPr>
          <a:lstStyle/>
          <a:p>
            <a:pPr algn="l" marL="170180" indent="-170180">
              <a:lnSpc>
                <a:spcPts val="2250"/>
              </a:lnSpc>
              <a:buSzPct val="100000"/>
              <a:buChar char="•"/>
            </a:pPr>
            <a:r>
              <a:rPr lang="en-US" sz="1500" dirty="0">
                <a:solidFill>
                  <a:srgbClr val="C9D1D9"/>
                </a:solidFill>
                <a:latin typeface="Arial" pitchFamily="34" charset="0"/>
                <a:ea typeface="Arial" pitchFamily="34" charset="-122"/>
                <a:cs typeface="Arial" pitchFamily="34" charset="-120"/>
              </a:rPr>
              <a:t>Bouton Nouvelle partie</a:t>
            </a:r>
            <a:endParaRPr lang="en-US" sz="1500" dirty="0"/>
          </a:p>
          <a:p>
            <a:pPr algn="l" marL="170180" indent="-170180">
              <a:lnSpc>
                <a:spcPts val="2250"/>
              </a:lnSpc>
              <a:buSzPct val="100000"/>
              <a:buChar char="•"/>
            </a:pPr>
            <a:r>
              <a:rPr lang="en-US" sz="1500" dirty="0">
                <a:solidFill>
                  <a:srgbClr val="C9D1D9"/>
                </a:solidFill>
                <a:latin typeface="Arial" pitchFamily="34" charset="0"/>
                <a:ea typeface="Arial" pitchFamily="34" charset="-122"/>
                <a:cs typeface="Arial" pitchFamily="34" charset="-120"/>
              </a:rPr>
              <a:t>Dictionnaire plus riche, accents gérés</a:t>
            </a:r>
            <a:endParaRPr lang="en-US" sz="1500" dirty="0"/>
          </a:p>
          <a:p>
            <a:pPr algn="l" marL="170180" indent="-170180">
              <a:lnSpc>
                <a:spcPts val="2250"/>
              </a:lnSpc>
              <a:buSzPct val="100000"/>
              <a:buChar char="•"/>
            </a:pPr>
            <a:r>
              <a:rPr lang="en-US" sz="1500" dirty="0">
                <a:solidFill>
                  <a:srgbClr val="C9D1D9"/>
                </a:solidFill>
                <a:latin typeface="Arial" pitchFamily="34" charset="0"/>
                <a:ea typeface="Arial" pitchFamily="34" charset="-122"/>
                <a:cs typeface="Arial" pitchFamily="34" charset="-120"/>
              </a:rPr>
              <a:t>Statistiques à partir de games.csv</a:t>
            </a:r>
            <a:endParaRPr lang="en-US" sz="1500" dirty="0"/>
          </a:p>
        </p:txBody>
      </p:sp>
    </p:spTree>
  </p:cSld>
  <p:clrMapOvr>
    <a:masterClrMapping/>
  </p:clrMapOvr>
</p:sld>
</file>

<file path=ppt/theme/theme1.xml><?xml version="1.0" encoding="utf-8"?>
<a:theme xmlns:a="http://schemas.openxmlformats.org/drawingml/2006/main" name="Jeu du pendu — Présentation">
  <a:themeElements>
    <a:clrScheme name="Jeu du pendu — Présentation">
      <a:dk1>
        <a:srgbClr val="0D1117"/>
      </a:dk1>
      <a:lt1>
        <a:srgbClr val="E6EDF3"/>
      </a:lt1>
      <a:dk2>
        <a:srgbClr val="23272D"/>
      </a:dk2>
      <a:lt2>
        <a:srgbClr val="B0B6BC"/>
      </a:lt2>
      <a:accent1>
        <a:srgbClr val="58A6FF"/>
      </a:accent1>
      <a:accent2>
        <a:srgbClr val="3FB950"/>
      </a:accent2>
      <a:accent3>
        <a:srgbClr val="F0883E"/>
      </a:accent3>
      <a:accent4>
        <a:srgbClr val="F85149"/>
      </a:accent4>
      <a:accent5>
        <a:srgbClr val="C9D1D9"/>
      </a:accent5>
      <a:accent6>
        <a:srgbClr val="8B949E"/>
      </a:accent6>
      <a:hlink>
        <a:srgbClr val="0563C1"/>
      </a:hlink>
      <a:folHlink>
        <a:srgbClr val="954F72"/>
      </a:folHlink>
    </a:clrScheme>
    <a:fontScheme name="Jeu du pendu — Présentation">
      <a:majorFont>
        <a:latin typeface="Consola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Jeu du pendu — Présentation</dc:title>
  <dc:subject/>
  <dc:creator/>
  <cp:lastModifiedBy/>
  <cp:revision>1</cp:revision>
  <dcterms:created xsi:type="dcterms:W3CDTF">2026-10-23T12:38:12Z</dcterms:created>
  <dcterms:modified xsi:type="dcterms:W3CDTF">2026-10-23T12:38:12Z</dcterms:modified>
</cp:coreProperties>
</file>